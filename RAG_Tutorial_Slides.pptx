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What if your AI could read your documents before answering — and even decide for itself when to search and double-check its own answer? That's RAG vs Agentic RAG. We'll build both,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paid API keys, no credit card. LangChain + Groq. Theory first with diagrams, then every box maps to a line of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normal model only knows its training data. It doesn't know your private or recent data. And it hallucinates — confident but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= Retrieval-Augmented Generation. Retrieve the relevant info, then generate a grounded answer. That's the whole trick.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numbers: 1 query, 2 embed to vectors, 3 vector DB, 4 similarity search, 5 context+query, 6 LLM, 7 grounded response. Seven steps — that's Basic 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 RAG is a straight line: always retrieves, same source, never checks its answer. It can't think. That's what Agentic RAG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Agentic RAG adds decisions and loops: do I need to retrieve? which source? is my answer relevant? If not, it loops back. Self-correction makes it agentic.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start, but now the agent decides whether to retrieve, picks a source, and grades its own answer — looping back on a NO. Eleven steps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let's build it. Start with 01_basic_rag.py, then 02_agentic_rag.py. Every diagram box becomes a line of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6012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TUTORIAL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 &amp;  Agentic RAG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both from scratch — line by line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513332" cy="566928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60520"/>
            <a:ext cx="15133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610612" y="4160520"/>
            <a:ext cx="1380744" cy="566928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9050">
            <a:solidFill>
              <a:srgbClr val="E88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10612" y="4160520"/>
            <a:ext cx="1380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65676" y="4160520"/>
            <a:ext cx="1513332" cy="566928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9050">
            <a:solidFill>
              <a:srgbClr val="3FA6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5676" y="4160520"/>
            <a:ext cx="15133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53328" y="4160520"/>
            <a:ext cx="1513332" cy="566928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 w="19050">
            <a:solidFill>
              <a:srgbClr val="1E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53328" y="4160520"/>
            <a:ext cx="15133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 +  Groq  ·  no credit card, no paid keys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walk away with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F4F7FC"/>
          </a:solidFill>
          <a:ln w="12700">
            <a:solidFill>
              <a:srgbClr val="E4EAF3"/>
            </a:solidFill>
            <a:prstDash val="solid"/>
          </a:ln>
          <a:effectLst>
            <a:outerShdw sx="100000" sy="100000" kx="0" ky="0" algn="bl" rotWithShape="0" blurRad="101600" dist="38100" dir="5400000">
              <a:srgbClr val="8A94A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2024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setup cost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0120" y="333756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paid API keys and no credit card. Groq's free tier + local embeddings.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526280" y="155448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F4F7FC"/>
          </a:solidFill>
          <a:ln w="12700">
            <a:solidFill>
              <a:srgbClr val="E4EAF3"/>
            </a:solidFill>
            <a:prstDash val="solid"/>
          </a:ln>
          <a:effectLst>
            <a:outerShdw sx="100000" sy="100000" kx="0" ky="0" algn="bl" rotWithShape="0" blurRad="101600" dist="38100" dir="5400000">
              <a:srgbClr val="8A94A6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920240"/>
            <a:ext cx="640080" cy="640080"/>
          </a:xfrm>
          <a:prstGeom prst="ellipse">
            <a:avLst/>
          </a:prstGeom>
          <a:solidFill>
            <a:srgbClr val="E882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2743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fast stack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846320" y="333756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as the framework, Groq running Llama 3 for blazing-fast answers.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412480" y="1554480"/>
            <a:ext cx="3566160" cy="3840480"/>
          </a:xfrm>
          <a:prstGeom prst="roundRect">
            <a:avLst>
              <a:gd name="adj" fmla="val 3077"/>
            </a:avLst>
          </a:prstGeom>
          <a:solidFill>
            <a:srgbClr val="F4F7FC"/>
          </a:solidFill>
          <a:ln w="12700">
            <a:solidFill>
              <a:srgbClr val="E4EAF3"/>
            </a:solidFill>
            <a:prstDash val="solid"/>
          </a:ln>
          <a:effectLst>
            <a:outerShdw sx="100000" sy="100000" kx="0" ky="0" algn="bl" rotWithShape="0" blurRad="101600" dist="38100" dir="5400000">
              <a:srgbClr val="8A94A6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78240" y="1920240"/>
            <a:ext cx="640080" cy="640080"/>
          </a:xfrm>
          <a:prstGeom prst="ellipse">
            <a:avLst/>
          </a:prstGeom>
          <a:solidFill>
            <a:srgbClr val="3FA6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32520" y="2743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→ Code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732520" y="333756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it with a diagram, then every box becomes one real line of code.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a plain LLM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4F7FC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84248"/>
            <a:ext cx="658368" cy="658368"/>
          </a:xfrm>
          <a:prstGeom prst="ellipse">
            <a:avLst/>
          </a:prstGeom>
          <a:solidFill>
            <a:srgbClr val="E882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920240" y="187452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knowledge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20240" y="2313432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knows what it saw during training — nothing after that.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4F7FC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401568"/>
            <a:ext cx="658368" cy="658368"/>
          </a:xfrm>
          <a:prstGeom prst="ellipse">
            <a:avLst/>
          </a:prstGeom>
          <a:solidFill>
            <a:srgbClr val="E882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920240" y="329184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your data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20240" y="3730752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docs, last week's news, niche topics: it simply hasn't seen them.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4F7FC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18888"/>
            <a:ext cx="658368" cy="658368"/>
          </a:xfrm>
          <a:prstGeom prst="ellipse">
            <a:avLst/>
          </a:prstGeom>
          <a:solidFill>
            <a:srgbClr val="E882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920240" y="470916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20240" y="5148072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case, it invents an answer that sounds right but is wrong.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Retrieve, then Generate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model the right documents BEFORE it answers.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3200400"/>
            <a:ext cx="4480560" cy="2194560"/>
          </a:xfrm>
          <a:prstGeom prst="roundRect">
            <a:avLst>
              <a:gd name="adj" fmla="val 5833"/>
            </a:avLst>
          </a:prstGeom>
          <a:solidFill>
            <a:srgbClr val="1E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520440"/>
            <a:ext cx="685800" cy="685800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57400" y="36118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07008" y="43434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 knowledge base for the chunks most similar to the question.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858000" y="3200400"/>
            <a:ext cx="4480560" cy="2194560"/>
          </a:xfrm>
          <a:prstGeom prst="roundRect">
            <a:avLst>
              <a:gd name="adj" fmla="val 5833"/>
            </a:avLst>
          </a:prstGeom>
          <a:solidFill>
            <a:srgbClr val="1E2A4A"/>
          </a:solidFill>
          <a:ln w="19050">
            <a:solidFill>
              <a:srgbClr val="E88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3520440"/>
            <a:ext cx="685800" cy="685800"/>
          </a:xfrm>
          <a:prstGeom prst="ellipse">
            <a:avLst/>
          </a:prstGeom>
          <a:solidFill>
            <a:srgbClr val="E882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92440" y="36118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42048" y="43434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writes an answer grounded in exactly those chunks.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257800" y="379476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5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RAG — seven steps, one straight line</a:t>
            </a:r>
            <a:endParaRPr lang="en-US" sz="3200" dirty="0"/>
          </a:p>
        </p:txBody>
      </p:sp>
      <p:pic>
        <p:nvPicPr>
          <p:cNvPr id="3" name="Image 0" descr="C:/Users/saina/OneDrive/Desktop/Marathiaiml/Agentic_RAG/basic_rag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554480"/>
            <a:ext cx="10058400" cy="49769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— but it can't think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4F7FC"/>
          </a:solidFill>
          <a:ln w="12700">
            <a:solidFill>
              <a:srgbClr val="E4EAF3"/>
            </a:solidFill>
            <a:prstDash val="solid"/>
          </a:ln>
          <a:effectLst>
            <a:outerShdw sx="100000" sy="100000" kx="0" ky="0" algn="bl" rotWithShape="0" blurRad="101600" dist="38100" dir="5400000">
              <a:srgbClr val="8A94A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745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retrieves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for a simple question it doesn't need to look up.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526280" y="160020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4F7FC"/>
          </a:solidFill>
          <a:ln w="12700">
            <a:solidFill>
              <a:srgbClr val="E4EAF3"/>
            </a:solidFill>
            <a:prstDash val="solid"/>
          </a:ln>
          <a:effectLst>
            <a:outerShdw sx="100000" sy="100000" kx="0" ky="0" algn="bl" rotWithShape="0" blurRad="101600" dist="38100" dir="5400000">
              <a:srgbClr val="8A94A6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8745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one source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846320" y="27432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choice between your notes, tools, or the live internet.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412480" y="160020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4F7FC"/>
          </a:solidFill>
          <a:ln w="12700">
            <a:solidFill>
              <a:srgbClr val="E4EAF3"/>
            </a:solidFill>
            <a:prstDash val="solid"/>
          </a:ln>
          <a:effectLst>
            <a:outerShdw sx="100000" sy="100000" kx="0" ky="0" algn="bl" rotWithShape="0" blurRad="101600" dist="38100" dir="5400000">
              <a:srgbClr val="8A94A6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32520" y="18745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checks itself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732520" y="27432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asks whether the answer was actually any good.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10881360" cy="1280160"/>
          </a:xfrm>
          <a:prstGeom prst="roundRect">
            <a:avLst>
              <a:gd name="adj" fmla="val 10000"/>
            </a:avLst>
          </a:prstGeom>
          <a:solidFill>
            <a:srgbClr val="141B3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3434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it's a straight line. 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can't reason or self-correct.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brain: decisions + a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F4F7FC"/>
          </a:solidFill>
          <a:ln w="12700">
            <a:solidFill>
              <a:srgbClr val="E4EAF3"/>
            </a:solidFill>
            <a:prstDash val="solid"/>
          </a:ln>
          <a:effectLst>
            <a:outerShdw sx="100000" sy="100000" kx="0" ky="0" algn="bl" rotWithShape="0" blurRad="101600" dist="38100" dir="5400000">
              <a:srgbClr val="8A94A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2024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697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need to retrieve?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34290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easy questions, skip the search and just answer.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526280" y="160020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F4F7FC"/>
          </a:solidFill>
          <a:ln w="12700">
            <a:solidFill>
              <a:srgbClr val="E4EAF3"/>
            </a:solidFill>
            <a:prstDash val="solid"/>
          </a:ln>
          <a:effectLst>
            <a:outerShdw sx="100000" sy="100000" kx="0" ky="0" algn="bl" rotWithShape="0" blurRad="101600" dist="38100" dir="5400000">
              <a:srgbClr val="8A94A6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920240"/>
            <a:ext cx="640080" cy="640080"/>
          </a:xfrm>
          <a:prstGeom prst="ellipse">
            <a:avLst/>
          </a:prstGeom>
          <a:solidFill>
            <a:srgbClr val="E882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2697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source?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46320" y="34290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private notes, a tool/API, or the open internet.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412480" y="160020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F4F7FC"/>
          </a:solidFill>
          <a:ln w="12700">
            <a:solidFill>
              <a:srgbClr val="E4EAF3"/>
            </a:solidFill>
            <a:prstDash val="solid"/>
          </a:ln>
          <a:effectLst>
            <a:outerShdw sx="100000" sy="100000" kx="0" ky="0" algn="bl" rotWithShape="0" blurRad="101600" dist="38100" dir="5400000">
              <a:srgbClr val="8A94A6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78240" y="1920240"/>
            <a:ext cx="640080" cy="640080"/>
          </a:xfrm>
          <a:prstGeom prst="ellipse">
            <a:avLst/>
          </a:prstGeom>
          <a:solidFill>
            <a:srgbClr val="3FA65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32520" y="2697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my answer relevant?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732520" y="34290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its own answer — if not, loop back and try again.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0080" y="50749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self-correcting loop is what makes it 'agentic'.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— eleven steps, with decisions &amp; a loop</a:t>
            </a:r>
            <a:endParaRPr lang="en-US" sz="3200" dirty="0"/>
          </a:p>
        </p:txBody>
      </p:sp>
      <p:pic>
        <p:nvPicPr>
          <p:cNvPr id="3" name="Image 0" descr="C:/Users/saina/OneDrive/Desktop/Marathiaiml/Agentic_RAG/agentic_rag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7926" y="1417320"/>
            <a:ext cx="786566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FUN PART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5087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it in code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RAG first, then upgrade it into an agent — every box you just saw becomes one line.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3840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01_basic_rag.py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4440" y="4389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7-step pipeline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0" y="365760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1E2A4A"/>
          </a:solidFill>
          <a:ln w="19050">
            <a:solidFill>
              <a:srgbClr val="E88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5160" y="3840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02_agentic_rag.py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995160" y="4389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(LangGraph)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577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editor  →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2026-07-19T10:00:43Z</dcterms:created>
  <dcterms:modified xsi:type="dcterms:W3CDTF">2026-07-19T10:00:43Z</dcterms:modified>
</cp:coreProperties>
</file>